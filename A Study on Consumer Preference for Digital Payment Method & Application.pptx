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2"/>
    <p:sldId id="262" r:id="rId3"/>
    <p:sldId id="259" r:id="rId4"/>
    <p:sldId id="265" r:id="rId5"/>
    <p:sldId id="266" r:id="rId6"/>
    <p:sldId id="267" r:id="rId7"/>
    <p:sldId id="268" r:id="rId8"/>
    <p:sldId id="273" r:id="rId9"/>
    <p:sldId id="274" r:id="rId10"/>
    <p:sldId id="269" r:id="rId11"/>
    <p:sldId id="276" r:id="rId12"/>
    <p:sldId id="275" r:id="rId13"/>
    <p:sldId id="278" r:id="rId14"/>
    <p:sldId id="279" r:id="rId15"/>
    <p:sldId id="271" r:id="rId16"/>
    <p:sldId id="270" r:id="rId17"/>
    <p:sldId id="277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B25094-7A5F-0218-CD5B-1B1A1CBEAC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E46E6-A95A-B4A7-8FE9-C80B0EAE70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08642-56B2-4044-BDA5-CEF4BD54F746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863B6-6125-6852-C62A-E87C42E950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C1DCC-0C72-F16E-E9E3-7F535D8D57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6C1A4-44A6-4A0D-819A-65FD55170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90491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DB75A-B454-46B4-BDE4-5FB47BD4F2BA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7C8E0-2AEA-4284-88F5-530C1465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0275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75EFB-078C-F738-6865-24668F42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4715D-1043-B2E9-78A1-1BEB51D6C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F2289-F76F-C88D-ED67-F0010F700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ED12-EFE1-4A69-BCEF-F12F1F5A06B4}" type="datetime1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DBA7B-C6FA-8762-DDD0-7E0E0C57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5150B-3CC3-D330-434D-BBBDB54E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56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430E-2D65-D2B9-1CBE-FCA8774F0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B87AA-8286-57E1-099D-4059959E4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B053B-3408-15EB-A752-31DA2F568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3477E-5FA2-49F7-9B50-EDD982FB48EA}" type="datetime1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F85DA-9F80-01D2-1822-8A271393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6AFF0-F753-3F33-5C55-75996045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0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ED43-C7DE-5999-E77E-46ED294D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966C8-C52E-16EB-E1D9-E804547F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6D078-940D-AC23-6F84-D49EAF197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371C-3AEE-4A92-8F71-7C92C85B08F3}" type="datetime1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DEFFC-8B6C-66D3-3D7D-534C3773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FDBD4-9090-1C79-CCB6-79204731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22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F5CF-F98C-DBF2-2782-98031A41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E1B3F-3305-5F66-D800-C32CD7AF8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3125"/>
            <a:ext cx="5181600" cy="40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67F79-9040-74C6-0245-1BC22E9AA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43125"/>
            <a:ext cx="5181600" cy="40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B17DB-1057-F230-9142-D29A50E4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3BA0-373F-4EC6-9A2E-C948F94F23CC}" type="datetime1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2241E-624C-244E-2831-7B1631CF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B29CC-227C-FEC4-C695-1798B2D5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57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7FA8-61E6-2028-1F36-742D84BC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080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4D402-0FB7-E4DC-4705-BC791003F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02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2489F-E75A-1DEE-B48B-8CF769A22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06725"/>
            <a:ext cx="515778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9BD78-3CA1-40BC-D269-FAED2B980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97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61D6C-C4E7-1830-E3EE-B4EF1A124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45287-EF0A-C359-C9AD-0CB848C5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58C1-20A9-4A10-BEEC-4FA5B5BA7E12}" type="datetime1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1F8B5-2EE1-9019-AD7A-4D5BABEA7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207245-22D4-18FA-1B6F-977691CE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86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261D-0F23-41BA-7F88-A15F65F96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8D34D-46C8-C387-5CEC-A09414F0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2590-74A1-41FD-B71C-FA37CAD65B31}" type="datetime1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B584D-6666-603C-D312-D40F182B9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82069-50A1-F3B7-CD10-A571566C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054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06F13-F49A-E232-2BC7-6A968C0C2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D5E71-E888-4B26-A5AB-C83BABD2C47C}" type="datetime1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FC46AA-363D-E9EC-B3F4-2CF12621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BD09D-96F2-2B5F-5D9B-079DB82C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0D93-8096-545E-ACC2-FAB3AB8C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38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D201-1CD7-209D-4094-49FF337F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B44C8-7821-D65A-35E3-5D46FC3AF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86024"/>
            <a:ext cx="3932237" cy="33829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567C3-9196-1ED3-7E93-E3DB0943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61E4F-B777-4C7D-888D-5D5EC045ADF8}" type="datetime1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F40AF-FB28-4B32-76FC-1BA52C25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D910C-8B4E-998C-143A-83D9FEE5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40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5B2C-4D01-F586-FD0C-9A02690F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86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79A40-6B86-2E4B-3AD3-B62B3C347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CF526-F25D-280A-5988-480BCAC44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24124"/>
            <a:ext cx="3932237" cy="3344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AD16B-4DAD-1F2B-9394-290BBBD6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B6FB-4AB2-43D3-9370-E00EE5A5DA37}" type="datetime1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17F95-2DE3-73D9-2533-2F0C6BE4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BFDB0-F793-FC95-F3CA-632D7A7F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290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7CE3-B5D0-CB3F-5633-5B037F7B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71ED7-AA6E-9052-DDC8-5EDF5FAA3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AFE24-7C9E-699B-FEF0-77874CC0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9DFB-07C8-4DC3-96F5-BF5137ADED45}" type="datetime1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62060-B2A2-26B3-4207-C38C2EB6E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BE791-0D9D-8FFF-8FA4-64E7A6BF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825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A4570-F78A-1C77-B90C-D53499352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42975"/>
            <a:ext cx="2628900" cy="52339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C415E-6988-84E9-EC13-9817F7649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42975"/>
            <a:ext cx="7734300" cy="52339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4FE32-4A01-4F16-82E4-4D243325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EE8A-1D90-49A4-AA2A-2F3BE0A1756C}" type="datetime1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690BD-D659-64DB-0D78-D91D484D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7FC75-3301-F6A7-F69A-9D23434E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15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B90F28-50ED-9649-0C3C-9B89AAAB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66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527E6-FFA7-07B2-A9E0-23465CAB1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62175"/>
            <a:ext cx="10515600" cy="4129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BCB13-F289-EA96-06C6-A7337B5A6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erpetua Titling MT" panose="02020502060505020804" pitchFamily="18" charset="0"/>
              </a:defRPr>
            </a:lvl1pPr>
          </a:lstStyle>
          <a:p>
            <a:fld id="{2C30E762-33E7-4920-BE0C-9F23CAA94D7E}" type="datetime1">
              <a:rPr lang="en-IN" smtClean="0"/>
              <a:pPr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135B1-C49C-18EE-5DE7-43B9709DC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erpetua Titling MT" panose="020205020605050208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BBC90-6B54-8400-8EF3-B55EB4FDD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erpetua Titling MT" panose="02020502060505020804" pitchFamily="18" charset="0"/>
              </a:defRPr>
            </a:lvl1pPr>
          </a:lstStyle>
          <a:p>
            <a:fld id="{9D3A903F-F404-403C-A311-8C6917E5C9A0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E780A6-58FF-AD79-CF1B-AD25DFC3EB1D}"/>
              </a:ext>
            </a:extLst>
          </p:cNvPr>
          <p:cNvSpPr/>
          <p:nvPr userDrawn="1"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accent2"/>
          </a:solidFill>
          <a:effectLst>
            <a:glow>
              <a:schemeClr val="accent1"/>
            </a:glow>
            <a:outerShdw blurRad="660400" dist="50800" dir="66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B041CC-927E-61D2-2638-8EAA37C196D5}"/>
              </a:ext>
            </a:extLst>
          </p:cNvPr>
          <p:cNvSpPr/>
          <p:nvPr userDrawn="1"/>
        </p:nvSpPr>
        <p:spPr>
          <a:xfrm>
            <a:off x="4471987" y="1982788"/>
            <a:ext cx="3248025" cy="3008311"/>
          </a:xfrm>
          <a:prstGeom prst="rect">
            <a:avLst/>
          </a:prstGeom>
          <a:blipFill dpi="0" rotWithShape="1">
            <a:blip r:embed="rId1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41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erpetua Titling MT" panose="020205020605050208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erpetua Titling MT" panose="020205020605050208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erpetua Titling MT" panose="020205020605050208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erpetua Titling MT" panose="020205020605050208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erpetua Titling MT" panose="020205020605050208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erpetua Titling MT" panose="020205020605050208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eKPhQ35HsHl21uRgcyUe41MXshITlQHyQKq6ene8Ngaq6uGQ/viewform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15BBC-C149-DA17-F4F5-4D1EA4EEC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435003"/>
            <a:ext cx="9144000" cy="2387600"/>
          </a:xfrm>
        </p:spPr>
        <p:txBody>
          <a:bodyPr>
            <a:normAutofit/>
          </a:bodyPr>
          <a:lstStyle/>
          <a:p>
            <a:r>
              <a:rPr lang="en-US" sz="35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Study on Consumer Preference for Digital Payment Methods and Applications</a:t>
            </a:r>
            <a:endParaRPr lang="en-IN" sz="35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BF450-3236-0F2C-1345-EB1AB8326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4910" y="4010599"/>
            <a:ext cx="7542179" cy="600311"/>
          </a:xfrm>
        </p:spPr>
        <p:txBody>
          <a:bodyPr/>
          <a:lstStyle/>
          <a:p>
            <a:r>
              <a:rPr lang="en-US" dirty="0"/>
              <a:t>Field project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79888-591E-858B-17FD-8F279506F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BE1F0-BCFA-13EC-FC35-F7F7C8D59D2D}"/>
              </a:ext>
            </a:extLst>
          </p:cNvPr>
          <p:cNvSpPr txBox="1"/>
          <p:nvPr/>
        </p:nvSpPr>
        <p:spPr>
          <a:xfrm>
            <a:off x="9396918" y="5421895"/>
            <a:ext cx="358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Name:Shreya.R.Gurav</a:t>
            </a:r>
            <a:endParaRPr lang="en-US" dirty="0"/>
          </a:p>
          <a:p>
            <a:r>
              <a:rPr lang="en-US" dirty="0"/>
              <a:t>RollNo.:MSAS105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688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FA17-AE90-17AA-8E80-8915C4FD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30" y="637738"/>
            <a:ext cx="4881664" cy="7711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</a:rPr>
              <a:t>Table of Contents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A419CA-73DC-675C-D9AF-39D24B4A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2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E9BD60-4626-0247-BA39-EC778972750F}"/>
              </a:ext>
            </a:extLst>
          </p:cNvPr>
          <p:cNvCxnSpPr>
            <a:cxnSpLocks/>
          </p:cNvCxnSpPr>
          <p:nvPr/>
        </p:nvCxnSpPr>
        <p:spPr>
          <a:xfrm>
            <a:off x="768485" y="1245140"/>
            <a:ext cx="0" cy="5225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456F3E0-A199-84C5-9B86-1C2D7460A547}"/>
              </a:ext>
            </a:extLst>
          </p:cNvPr>
          <p:cNvSpPr txBox="1"/>
          <p:nvPr/>
        </p:nvSpPr>
        <p:spPr>
          <a:xfrm>
            <a:off x="907106" y="1302202"/>
            <a:ext cx="6765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D8B9C1-5D43-3E61-0884-7D0A04C8634D}"/>
              </a:ext>
            </a:extLst>
          </p:cNvPr>
          <p:cNvSpPr txBox="1"/>
          <p:nvPr/>
        </p:nvSpPr>
        <p:spPr>
          <a:xfrm>
            <a:off x="907106" y="1830082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2BC8D8-163B-6E13-ABB2-C5DADF86459C}"/>
              </a:ext>
            </a:extLst>
          </p:cNvPr>
          <p:cNvSpPr txBox="1"/>
          <p:nvPr/>
        </p:nvSpPr>
        <p:spPr>
          <a:xfrm>
            <a:off x="907105" y="2291747"/>
            <a:ext cx="6865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996FA-E7A8-E6BA-73A7-B6C2F1D9E538}"/>
              </a:ext>
            </a:extLst>
          </p:cNvPr>
          <p:cNvSpPr txBox="1"/>
          <p:nvPr/>
        </p:nvSpPr>
        <p:spPr>
          <a:xfrm>
            <a:off x="907106" y="2760653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Methodology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84135-C902-2FD7-8033-C42B7B4938F9}"/>
              </a:ext>
            </a:extLst>
          </p:cNvPr>
          <p:cNvSpPr txBox="1"/>
          <p:nvPr/>
        </p:nvSpPr>
        <p:spPr>
          <a:xfrm>
            <a:off x="907106" y="3229559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9678B7-FFEE-3584-1E61-9D905BA1EA35}"/>
              </a:ext>
            </a:extLst>
          </p:cNvPr>
          <p:cNvSpPr txBox="1"/>
          <p:nvPr/>
        </p:nvSpPr>
        <p:spPr>
          <a:xfrm>
            <a:off x="907106" y="3725924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B21D4F-566D-7969-D8B5-FBE2FA7992FF}"/>
              </a:ext>
            </a:extLst>
          </p:cNvPr>
          <p:cNvSpPr txBox="1"/>
          <p:nvPr/>
        </p:nvSpPr>
        <p:spPr>
          <a:xfrm>
            <a:off x="907106" y="5981928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333DF4-FA2A-9C06-DDA8-ACAF6CCEC55A}"/>
              </a:ext>
            </a:extLst>
          </p:cNvPr>
          <p:cNvSpPr txBox="1"/>
          <p:nvPr/>
        </p:nvSpPr>
        <p:spPr>
          <a:xfrm>
            <a:off x="907106" y="5371132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B2129D-DFB1-88C3-817F-157E1D1E0B10}"/>
              </a:ext>
            </a:extLst>
          </p:cNvPr>
          <p:cNvSpPr txBox="1"/>
          <p:nvPr/>
        </p:nvSpPr>
        <p:spPr>
          <a:xfrm>
            <a:off x="1321341" y="4019871"/>
            <a:ext cx="67655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Analysis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Analysis</a:t>
            </a:r>
            <a:br>
              <a:rPr lang="en-US" sz="1400" b="1" dirty="0"/>
            </a:b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342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AFAC-ABE7-56D7-8005-3D9D92901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11" y="690664"/>
            <a:ext cx="6998916" cy="59338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49D68-99D7-DEC2-6EFA-104045C3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639800" y="7854566"/>
            <a:ext cx="1505550" cy="157962"/>
          </a:xfrm>
        </p:spPr>
        <p:txBody>
          <a:bodyPr/>
          <a:lstStyle/>
          <a:p>
            <a:fld id="{9D3A903F-F404-403C-A311-8C6917E5C9A0}" type="slidenum">
              <a:rPr lang="en-IN" smtClean="0"/>
              <a:t>3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5BC853-A717-375A-25D3-A467A149C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5676" y="1521308"/>
            <a:ext cx="9147056" cy="4280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systems have rapidly transformed financial transactions 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recent years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smartphone and internet usage have boosted digital adoption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UPI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Debit/Credit Cards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Banking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Wallets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applications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such as mobile apps are widely used for transactions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India, digital payments have grown due to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convenience, speed, and government initiatives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preference is influenced by factors like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convenience, security, ease of use, and rewards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study focuses on understanding consumer preference for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payment methods and applications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27" name="Picture 3" descr="Online payment success concept. Mobile banking payment by credit card. Cashless money transfer contactless concept">
            <a:extLst>
              <a:ext uri="{FF2B5EF4-FFF2-40B4-BE49-F238E27FC236}">
                <a16:creationId xmlns:a16="http://schemas.microsoft.com/office/drawing/2014/main" id="{8421569E-EC47-E3FD-88BB-3F18E69F3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888" y="1187620"/>
            <a:ext cx="5135218" cy="307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90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34745-BBB8-0E59-7C58-0466D1B0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B18D-C178-E165-DC32-C934BA145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92244"/>
            <a:ext cx="7294123" cy="92682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Literature</a:t>
            </a:r>
            <a:r>
              <a:rPr lang="en-IN" sz="3000" dirty="0">
                <a:latin typeface="Algerian" panose="04020705040A02060702" pitchFamily="82" charset="0"/>
              </a:rPr>
              <a:t> </a:t>
            </a: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Review</a:t>
            </a: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AC23B0-C7E6-CAF9-1E3F-998178B6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3FDC2-F4A2-EF14-F5BF-EADED5D5CBFA}"/>
              </a:ext>
            </a:extLst>
          </p:cNvPr>
          <p:cNvSpPr txBox="1"/>
          <p:nvPr/>
        </p:nvSpPr>
        <p:spPr>
          <a:xfrm>
            <a:off x="593387" y="1622609"/>
            <a:ext cx="100194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studies show that digital payment adoption has increased due to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usage, internet access, and cashless transaction trends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Zehra et al. (2024)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 that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and ease of use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major factors influencing consumer preference for digital payment gateways in India.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also highlighted that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trust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strongly affect users’ choice of payment platforms.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Cashback and reward offers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 continued usage and improve satisfaction.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factors such as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education, and income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influence consumer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toward digital payments.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 study extends earlier work by using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and additional statistical analysis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consumer preference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6041016-2D62-DEDD-7B04-34E5C1740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829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D9D22-A143-609B-3C09-249A8C3B1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915" y="765783"/>
            <a:ext cx="3198779" cy="59608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B70E24-B677-5BC1-BF6C-695EBC133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5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7F1BFD-68DA-F0F3-CDA9-763AD79E5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847" y="1169398"/>
            <a:ext cx="755328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preferred digital payment 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consumers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preferred digital payment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digital payment usage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examine the influence of: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Cashback &amp; rewards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factor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affecting consumer preference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examine whether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group influences digital payment preference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5A68D-A4D0-7F82-D98C-BA3910AA98CF}"/>
              </a:ext>
            </a:extLst>
          </p:cNvPr>
          <p:cNvSpPr txBox="1"/>
          <p:nvPr/>
        </p:nvSpPr>
        <p:spPr>
          <a:xfrm>
            <a:off x="1274323" y="3429000"/>
            <a:ext cx="3044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4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D8CC-9595-4C00-B615-4D9FC6035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004" y="775511"/>
            <a:ext cx="6097621" cy="907374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Data &amp; Methodology</a:t>
            </a: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7B6246-EFE5-42A6-885A-FABF9AB8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6</a:t>
            </a:fld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972FF4-3CEA-26A1-F475-913B6BA27737}"/>
              </a:ext>
            </a:extLst>
          </p:cNvPr>
          <p:cNvSpPr/>
          <p:nvPr/>
        </p:nvSpPr>
        <p:spPr>
          <a:xfrm>
            <a:off x="6585624" y="1610138"/>
            <a:ext cx="4582800" cy="440253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</a:t>
            </a:r>
          </a:p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Techniques:</a:t>
            </a:r>
            <a:endParaRPr lang="en-IN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Cronbach’s Alpha (Reliability Test)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Fisher’s Exact Test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5067B0-8CB0-F703-3BE5-0DC0B0012353}"/>
              </a:ext>
            </a:extLst>
          </p:cNvPr>
          <p:cNvSpPr/>
          <p:nvPr/>
        </p:nvSpPr>
        <p:spPr>
          <a:xfrm>
            <a:off x="729574" y="1682885"/>
            <a:ext cx="4582800" cy="432881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Primary data (Google Forms) 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Size: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159 respondents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Includes:</a:t>
            </a:r>
            <a:endParaRPr lang="en-IN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details (Age group)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usage behaviour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Preferred methods &amp; applications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Influencing factors (Likert scale)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Open-ended responses</a:t>
            </a:r>
          </a:p>
        </p:txBody>
      </p:sp>
    </p:spTree>
    <p:extLst>
      <p:ext uri="{BB962C8B-B14F-4D97-AF65-F5344CB8AC3E}">
        <p14:creationId xmlns:p14="http://schemas.microsoft.com/office/powerpoint/2010/main" val="35393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E809-A5F6-6991-24CE-B69B5B91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989519"/>
            <a:ext cx="7624864" cy="664183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Data Preprocessing</a:t>
            </a: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8BFF2A-78B4-00BE-AD54-71433C01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527D5-A8D3-1B55-7C2D-5BC1075F2853}"/>
              </a:ext>
            </a:extLst>
          </p:cNvPr>
          <p:cNvSpPr txBox="1"/>
          <p:nvPr/>
        </p:nvSpPr>
        <p:spPr>
          <a:xfrm>
            <a:off x="601987" y="1653702"/>
            <a:ext cx="67655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dataset and reviewed structure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(removed extra spaces)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handled appropriately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responses where required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Likert-scale responses into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format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dataset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statistical analysis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2567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C98B-5D1C-26B4-15D5-59B73179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E662E-9711-64EF-6B08-ACC626ED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989519"/>
            <a:ext cx="7624864" cy="664183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 EDA</a:t>
            </a: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4DA0CD-D51C-DED8-66AB-BD2F9CC3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7B798-6CFE-C524-B627-3DB608C6E15A}"/>
              </a:ext>
            </a:extLst>
          </p:cNvPr>
          <p:cNvSpPr txBox="1"/>
          <p:nvPr/>
        </p:nvSpPr>
        <p:spPr>
          <a:xfrm>
            <a:off x="672829" y="1167320"/>
            <a:ext cx="67655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Visualized data using </a:t>
            </a:r>
            <a:r>
              <a:rPr lang="en-US" altLang="en-US" b="1" dirty="0">
                <a:latin typeface="Arial" panose="020B0604020202020204" pitchFamily="34" charset="0"/>
              </a:rPr>
              <a:t>charts and graphs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Analyzed </a:t>
            </a:r>
            <a:r>
              <a:rPr lang="en-US" altLang="en-US" b="1" dirty="0">
                <a:latin typeface="Arial" panose="020B0604020202020204" pitchFamily="34" charset="0"/>
              </a:rPr>
              <a:t>age group distribution </a:t>
            </a:r>
            <a:r>
              <a:rPr lang="en-US" altLang="en-US" dirty="0">
                <a:latin typeface="Arial" panose="020B0604020202020204" pitchFamily="34" charset="0"/>
              </a:rPr>
              <a:t>of respondents where age group of </a:t>
            </a:r>
            <a:r>
              <a:rPr lang="en-US" altLang="en-US" b="1" dirty="0">
                <a:latin typeface="Arial" panose="020B0604020202020204" pitchFamily="34" charset="0"/>
              </a:rPr>
              <a:t>18-25 prefer using Digital-payment.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Identified that </a:t>
            </a:r>
            <a:r>
              <a:rPr lang="en-US" altLang="en-US" b="1" dirty="0">
                <a:latin typeface="Arial" panose="020B0604020202020204" pitchFamily="34" charset="0"/>
              </a:rPr>
              <a:t>UPI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most used Digital payment method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78FA49-ACC6-3C66-903A-16BBB35B2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228" y="3292742"/>
            <a:ext cx="3782439" cy="317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C660D0-7AA9-018D-E2DF-04A96199D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20286" y="3195703"/>
            <a:ext cx="3655237" cy="3171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1449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15EA1-631B-99BA-BAFE-1A698383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2B441-1C66-246D-E981-2C26FFAD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999247"/>
            <a:ext cx="7624864" cy="664183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 EDA</a:t>
            </a: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F72FC5-D879-FCFC-2B52-A8E0CFE4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5B6FF-B858-518D-C8D7-A7DFCE4B7BF9}"/>
              </a:ext>
            </a:extLst>
          </p:cNvPr>
          <p:cNvSpPr txBox="1"/>
          <p:nvPr/>
        </p:nvSpPr>
        <p:spPr>
          <a:xfrm>
            <a:off x="499353" y="1266565"/>
            <a:ext cx="67655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Examined </a:t>
            </a:r>
            <a:r>
              <a:rPr lang="en-US" altLang="en-US" b="1" dirty="0">
                <a:latin typeface="Arial" panose="020B0604020202020204" pitchFamily="34" charset="0"/>
              </a:rPr>
              <a:t>Google pay </a:t>
            </a:r>
            <a:r>
              <a:rPr lang="en-US" altLang="en-US" dirty="0">
                <a:latin typeface="Arial" panose="020B0604020202020204" pitchFamily="34" charset="0"/>
              </a:rPr>
              <a:t>is most </a:t>
            </a:r>
            <a:r>
              <a:rPr lang="en-US" altLang="en-US" b="1" dirty="0">
                <a:latin typeface="Arial" panose="020B0604020202020204" pitchFamily="34" charset="0"/>
              </a:rPr>
              <a:t>preferred payment applications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Studied </a:t>
            </a:r>
            <a:r>
              <a:rPr lang="en-US" altLang="en-US" b="1" dirty="0">
                <a:latin typeface="Arial" panose="020B0604020202020204" pitchFamily="34" charset="0"/>
              </a:rPr>
              <a:t>frequency of digital payment usage</a:t>
            </a:r>
            <a:r>
              <a:rPr lang="en-US" altLang="en-US" dirty="0">
                <a:latin typeface="Arial" panose="020B0604020202020204" pitchFamily="34" charset="0"/>
              </a:rPr>
              <a:t> where we found out 66.7% user uses the app on the daily bases.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01CC13-759F-4923-128B-B5AB1D632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69"/>
          <a:stretch>
            <a:fillRect/>
          </a:stretch>
        </p:blipFill>
        <p:spPr bwMode="auto">
          <a:xfrm>
            <a:off x="823352" y="3287948"/>
            <a:ext cx="5438018" cy="303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C17177-C8FF-620D-B480-BB092BDEA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734" y="2428225"/>
            <a:ext cx="3727450" cy="37585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5427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32B7-BC28-B000-248D-ABE1BC00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1184074"/>
            <a:ext cx="4891391" cy="742004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300" dirty="0">
                <a:latin typeface="Algerian" panose="04020705040A02060702" pitchFamily="82" charset="0"/>
              </a:rPr>
              <a:t>Reliability Analysis</a:t>
            </a:r>
            <a:br>
              <a:rPr lang="en-IN" sz="3300" dirty="0">
                <a:latin typeface="Algerian" panose="04020705040A02060702" pitchFamily="82" charset="0"/>
              </a:rPr>
            </a:b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72C33-8651-F306-75FF-E001C344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FC21F-2925-7A1C-2B59-2BD35EA9D6C7}"/>
              </a:ext>
            </a:extLst>
          </p:cNvPr>
          <p:cNvSpPr txBox="1"/>
          <p:nvPr/>
        </p:nvSpPr>
        <p:spPr>
          <a:xfrm>
            <a:off x="581228" y="1792602"/>
            <a:ext cx="67655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IN" b="1" dirty="0"/>
              <a:t>Cronbach’s Alpha</a:t>
            </a:r>
            <a:r>
              <a:rPr lang="en-IN" dirty="0"/>
              <a:t> to test internal consistency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Applied on Likert-scale factors: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Convenience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Ease of use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Security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Cashback &amp; rewards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Cronbach’s Alpha = 0.739</a:t>
            </a:r>
            <a:r>
              <a:rPr lang="en-IN" dirty="0"/>
              <a:t>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Indicates </a:t>
            </a:r>
            <a:r>
              <a:rPr lang="en-IN" b="1" dirty="0"/>
              <a:t>acceptable reliability</a:t>
            </a:r>
            <a:r>
              <a:rPr lang="en-IN" dirty="0"/>
              <a:t> (0.7 – 0.8 range)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Questionnaire is </a:t>
            </a:r>
            <a:r>
              <a:rPr lang="en-IN" b="1" dirty="0"/>
              <a:t>consistent and suitable for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9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1A64-817B-A3AD-7B59-D8F9C2AB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85" y="671278"/>
            <a:ext cx="5368047" cy="459902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</a:rPr>
              <a:t>Hypothesis Testing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2402F8-51A7-C2FD-8D2D-301C7B61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8BEE6-C4B1-C400-68C0-8C1E341D3A5E}"/>
              </a:ext>
            </a:extLst>
          </p:cNvPr>
          <p:cNvSpPr txBox="1"/>
          <p:nvPr/>
        </p:nvSpPr>
        <p:spPr>
          <a:xfrm>
            <a:off x="483951" y="2714466"/>
            <a:ext cx="67655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test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between categorical variables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Assumption: Expected frequencies should be sufficient (&gt;5)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study,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 was violated (many cells &lt; 5)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Chi-Square result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reliable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741484-A741-9E49-DE3C-3F144FB05D13}"/>
              </a:ext>
            </a:extLst>
          </p:cNvPr>
          <p:cNvSpPr txBox="1"/>
          <p:nvPr/>
        </p:nvSpPr>
        <p:spPr>
          <a:xfrm>
            <a:off x="483951" y="4302161"/>
            <a:ext cx="67655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Fisher’s Exact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an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to Chi-Square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sample / low expected frequencies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= 0.0092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&lt; 0.05 →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H₀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CE1FC-1BBD-589E-7D55-ADF61804A98B}"/>
              </a:ext>
            </a:extLst>
          </p:cNvPr>
          <p:cNvSpPr txBox="1"/>
          <p:nvPr/>
        </p:nvSpPr>
        <p:spPr>
          <a:xfrm>
            <a:off x="483951" y="1405534"/>
            <a:ext cx="67655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H₀: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association between age group and payment method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H₁: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Association exists between age group and payment method </a:t>
            </a:r>
          </a:p>
        </p:txBody>
      </p:sp>
    </p:spTree>
    <p:extLst>
      <p:ext uri="{BB962C8B-B14F-4D97-AF65-F5344CB8AC3E}">
        <p14:creationId xmlns:p14="http://schemas.microsoft.com/office/powerpoint/2010/main" val="1638986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2BA1B-DEE6-7E9B-F9B0-C3C664E4A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A680-1CBF-A015-6747-771B337D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0" y="855077"/>
            <a:ext cx="6282448" cy="1004262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300" dirty="0">
                <a:latin typeface="Algerian" panose="04020705040A02060702" pitchFamily="82" charset="0"/>
              </a:rPr>
              <a:t>Correlation Analysis</a:t>
            </a:r>
            <a:br>
              <a:rPr lang="en-US" sz="3200" b="1" dirty="0"/>
            </a:b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0FF22-E438-15E6-CDE4-AA9A29B2F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4E669-920D-6366-25A0-501AABB74B43}"/>
              </a:ext>
            </a:extLst>
          </p:cNvPr>
          <p:cNvSpPr txBox="1"/>
          <p:nvPr/>
        </p:nvSpPr>
        <p:spPr>
          <a:xfrm>
            <a:off x="436935" y="1859339"/>
            <a:ext cx="676558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relationship between: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Cashback &amp; rewards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 and heatmap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factors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and ease of 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relatively stronger correlation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that factors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interrelated and influence each other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factors collectively impact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preference for digital payment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AD17B-F579-D8C4-8CFC-0E0049D3D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576" y="1474140"/>
            <a:ext cx="4277995" cy="3497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8183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C3B4-6881-1CAD-C930-6F041B38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7" y="772395"/>
            <a:ext cx="10095689" cy="832670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dirty="0">
                <a:latin typeface="Algerian" panose="04020705040A02060702" pitchFamily="82" charset="0"/>
              </a:rPr>
              <a:t>Most Important Factor</a:t>
            </a:r>
            <a:br>
              <a:rPr lang="en-US" sz="3000" dirty="0">
                <a:latin typeface="Algerian" panose="04020705040A02060702" pitchFamily="82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18AF1-FBD8-F901-D874-5BE457AF4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B7E2C-55FF-5D61-1B17-0DDC284EBED8}"/>
              </a:ext>
            </a:extLst>
          </p:cNvPr>
          <p:cNvSpPr txBox="1"/>
          <p:nvPr/>
        </p:nvSpPr>
        <p:spPr>
          <a:xfrm>
            <a:off x="310283" y="2070079"/>
            <a:ext cx="67655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Respondents were asked to identify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factor influencing their payment choice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included: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Cashback &amp; rewards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was done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distribution and bar graph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selected by the majority of respondents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 and convenience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also important but ranked lower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Cashback and rewards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comparatively less influence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that users prefer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,simple and fast transactions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DD7AD-3E53-A098-8C92-8B4F26FE29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873" b="-2873"/>
          <a:stretch>
            <a:fillRect/>
          </a:stretch>
        </p:blipFill>
        <p:spPr bwMode="auto">
          <a:xfrm>
            <a:off x="7073244" y="1605065"/>
            <a:ext cx="4527800" cy="4681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5001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0C51F-0288-6F3D-F707-5926C9F0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66" y="1130809"/>
            <a:ext cx="9619034" cy="514761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500" dirty="0">
                <a:latin typeface="Algerian" panose="04020705040A02060702" pitchFamily="82" charset="0"/>
              </a:rPr>
              <a:t>Qualitative Analysis (Open-Ended Responses)</a:t>
            </a:r>
            <a:br>
              <a:rPr lang="en-IN" sz="2500" dirty="0">
                <a:latin typeface="Algerian" panose="04020705040A02060702" pitchFamily="82" charset="0"/>
              </a:rPr>
            </a:br>
            <a:endParaRPr lang="en-IN" sz="25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D7CB04-164F-1990-2442-7F27999E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F50BF-4FB5-2E0C-AFF1-3F9AF6302771}"/>
              </a:ext>
            </a:extLst>
          </p:cNvPr>
          <p:cNvSpPr txBox="1"/>
          <p:nvPr/>
        </p:nvSpPr>
        <p:spPr>
          <a:xfrm>
            <a:off x="507459" y="1645570"/>
            <a:ext cx="676558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frequently mentioned factor by respondents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also highly reported, indicating trust issues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of transactions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another important positive factor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users reported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issues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affecting experience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moderately mentioned by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Cashback &amp; rewards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least mentioned, showing lower importance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users prefer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easy, fast, and secure digital payment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64C2C2-A760-A208-B100-463F3634D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978" y="1989463"/>
            <a:ext cx="3251835" cy="3129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6312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195B-E421-0D88-5C48-32820BF3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64" y="454498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Limitations</a:t>
            </a: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5EF178-D4BA-66FF-61FE-AAC0A5A9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15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F7BC71-86C1-A247-08AE-26A1B0463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48" y="1453332"/>
            <a:ext cx="66085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based on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sample size (159 respondents)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convenience sampling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affect representativeness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self-reported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may include response bias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Likert-scale data treated as numerical for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factors considered (other influences not included)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statistical assumptions (Chi-Square) were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violated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0031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41E5-BAD7-F7D3-0449-DF6D8454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49" y="877225"/>
            <a:ext cx="2955587" cy="479357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Conclusion</a:t>
            </a: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05BABF-DEA9-DDB2-A3B4-B6F0EB8C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16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E6F4727-4C7D-1676-26DF-6C75EB4AE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549" y="1594959"/>
            <a:ext cx="904510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systems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widely adopted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among younger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and mobile payment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the most preferred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perform digital payments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high dependency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Convenience, ease of use, and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the key influencing factors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Cashback and rewards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comparatively lower impact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association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found between age group and payment method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and qualitative analysis show preference for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easy, fast, and secure payment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1839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E9A1A9-989A-9BDD-BB2B-A2D8028A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199B41-C4AC-677D-2004-93634FF60C28}"/>
              </a:ext>
            </a:extLst>
          </p:cNvPr>
          <p:cNvSpPr txBox="1"/>
          <p:nvPr/>
        </p:nvSpPr>
        <p:spPr>
          <a:xfrm>
            <a:off x="437745" y="754134"/>
            <a:ext cx="37159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dirty="0">
                <a:latin typeface="Algerian" panose="04020705040A02060702" pitchFamily="82" charset="0"/>
              </a:rPr>
              <a:t>BIBILOGRAPHY</a:t>
            </a: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925BE-921E-EA05-D94D-8E4DDF0AE015}"/>
              </a:ext>
            </a:extLst>
          </p:cNvPr>
          <p:cNvSpPr txBox="1"/>
          <p:nvPr/>
        </p:nvSpPr>
        <p:spPr>
          <a:xfrm>
            <a:off x="770918" y="1790763"/>
            <a:ext cx="10211610" cy="3235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360172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PAPER: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360172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Zehra, F., Khan, F. S., Mazhar, S. S.,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Akhlaque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N., Haque, E., &amp; Singh, A. (2024). </a:t>
            </a: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Exploring consumer preferences and behaviour toward digital payment gateways in India.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International Journal of Experimental Research and Review, 41(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Spl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Vol), 158–167.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360172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Questionnaire link:</a:t>
            </a:r>
          </a:p>
          <a:p>
            <a:r>
              <a:rPr lang="en-IN" u="sng" dirty="0">
                <a:hlinkClick r:id="rId2"/>
              </a:rPr>
              <a:t>https://docs.google.com/forms/d/e/1FAIpQLSeKPhQ35HsHl21uRgcyUe41MXshITlQHyQKq6ene8Ngaq6uGQ/viewform</a:t>
            </a:r>
            <a:endParaRPr lang="en-IN" dirty="0"/>
          </a:p>
          <a:p>
            <a:r>
              <a:rPr lang="en-IN" dirty="0"/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3601720" algn="l"/>
              </a:tabLst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78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1FF83-64FF-0BE6-9AC1-E20F5EC3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D4E4D-D471-8520-2172-45C8AD42F98B}"/>
              </a:ext>
            </a:extLst>
          </p:cNvPr>
          <p:cNvSpPr txBox="1"/>
          <p:nvPr/>
        </p:nvSpPr>
        <p:spPr>
          <a:xfrm>
            <a:off x="4455268" y="2830749"/>
            <a:ext cx="5272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Gabriola" panose="04040605051002020D02" pitchFamily="82" charset="0"/>
              </a:rPr>
              <a:t>Thank you!!</a:t>
            </a:r>
            <a:endParaRPr lang="en-IN" sz="6000" b="1" dirty="0">
              <a:latin typeface="Gabriola" panose="04040605051002020D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8C7D6-4673-19D9-46A8-1C280D9C1B2E}"/>
              </a:ext>
            </a:extLst>
          </p:cNvPr>
          <p:cNvSpPr txBox="1"/>
          <p:nvPr/>
        </p:nvSpPr>
        <p:spPr>
          <a:xfrm>
            <a:off x="8951068" y="6011695"/>
            <a:ext cx="34808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Questions??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7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havans default">
      <a:dk1>
        <a:sysClr val="windowText" lastClr="000000"/>
      </a:dk1>
      <a:lt1>
        <a:sysClr val="window" lastClr="FFFFFF"/>
      </a:lt1>
      <a:dk2>
        <a:srgbClr val="212745"/>
      </a:dk2>
      <a:lt2>
        <a:srgbClr val="F2F2F2"/>
      </a:lt2>
      <a:accent1>
        <a:srgbClr val="780000"/>
      </a:accent1>
      <a:accent2>
        <a:srgbClr val="C1121F"/>
      </a:accent2>
      <a:accent3>
        <a:srgbClr val="FDF0D5"/>
      </a:accent3>
      <a:accent4>
        <a:srgbClr val="003049"/>
      </a:accent4>
      <a:accent5>
        <a:srgbClr val="669BBC"/>
      </a:accent5>
      <a:accent6>
        <a:srgbClr val="F14124"/>
      </a:accent6>
      <a:hlink>
        <a:srgbClr val="56C7AA"/>
      </a:hlink>
      <a:folHlink>
        <a:srgbClr val="59A8D1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 Study on Consumer Preference for Digital Payment</Template>
  <TotalTime>21</TotalTime>
  <Words>1077</Words>
  <Application>Microsoft Office PowerPoint</Application>
  <PresentationFormat>Widescreen</PresentationFormat>
  <Paragraphs>228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Algerian</vt:lpstr>
      <vt:lpstr>Arial</vt:lpstr>
      <vt:lpstr>Calibri</vt:lpstr>
      <vt:lpstr>Franklin Gothic Book</vt:lpstr>
      <vt:lpstr>Gabriola</vt:lpstr>
      <vt:lpstr>Perpetua Titling MT</vt:lpstr>
      <vt:lpstr>Times New Roman</vt:lpstr>
      <vt:lpstr>Wingdings</vt:lpstr>
      <vt:lpstr>Office Theme</vt:lpstr>
      <vt:lpstr>A Study on Consumer Preference for Digital Payment Methods and Applications</vt:lpstr>
      <vt:lpstr>Table of Contents </vt:lpstr>
      <vt:lpstr>Introduction</vt:lpstr>
      <vt:lpstr>Literature Review </vt:lpstr>
      <vt:lpstr>Objectives</vt:lpstr>
      <vt:lpstr>Data &amp; Methodology </vt:lpstr>
      <vt:lpstr>Data Preprocessing </vt:lpstr>
      <vt:lpstr> EDA </vt:lpstr>
      <vt:lpstr> EDA </vt:lpstr>
      <vt:lpstr>Reliability Analysis  </vt:lpstr>
      <vt:lpstr>Hypothesis Testing</vt:lpstr>
      <vt:lpstr>Correlation Analysis  </vt:lpstr>
      <vt:lpstr>Most Important Factor </vt:lpstr>
      <vt:lpstr>Qualitative Analysis (Open-Ended Responses) </vt:lpstr>
      <vt:lpstr>Limitations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2026-06-28T08:08:02Z</dcterms:created>
  <dcterms:modified xsi:type="dcterms:W3CDTF">2026-06-28T08:29:20Z</dcterms:modified>
</cp:coreProperties>
</file>